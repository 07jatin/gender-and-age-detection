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952E49-FD21-368E-460A-6ECD411344F7}" v="789" dt="2025-04-14T20:25:13.6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5143" y="324077"/>
            <a:ext cx="9373809" cy="1589315"/>
          </a:xfrm>
        </p:spPr>
        <p:txBody>
          <a:bodyPr/>
          <a:lstStyle/>
          <a:p>
            <a:r>
              <a:rPr lang="en-US" sz="5400" b="1" dirty="0"/>
              <a:t>Gender and Age Detection Using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6095" y="2029657"/>
            <a:ext cx="8744858" cy="5067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ea typeface="+mn-lt"/>
                <a:cs typeface="+mn-lt"/>
              </a:rPr>
              <a:t>A Computer Vision Project with OpenCV and Pretrained Caffe Models</a:t>
            </a:r>
            <a:endParaRPr lang="en-US" sz="180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BB52D7-C2FF-23B6-B232-BA649E657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384" y="2640315"/>
            <a:ext cx="4742090" cy="27747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 descr="A person sitting at a desk with laptops and a brain&#10;&#10;AI-generated content may be incorrect.">
            <a:extLst>
              <a:ext uri="{FF2B5EF4-FFF2-40B4-BE49-F238E27FC236}">
                <a16:creationId xmlns:a16="http://schemas.microsoft.com/office/drawing/2014/main" id="{929B6B0F-F4A4-59E6-1011-997FA1C1F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075" y="2540529"/>
            <a:ext cx="4599215" cy="298268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F9F562-6B37-E8B2-0583-25760DDEF1E5}"/>
              </a:ext>
            </a:extLst>
          </p:cNvPr>
          <p:cNvSpPr txBox="1"/>
          <p:nvPr/>
        </p:nvSpPr>
        <p:spPr>
          <a:xfrm>
            <a:off x="135577" y="6074818"/>
            <a:ext cx="713839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Presented by:</a:t>
            </a:r>
            <a:r>
              <a:rPr lang="en-US" dirty="0">
                <a:ea typeface="+mn-lt"/>
                <a:cs typeface="+mn-lt"/>
              </a:rPr>
              <a:t> Parth Shrivastava, Pulkit Pandey, Aadesh </a:t>
            </a:r>
            <a:r>
              <a:rPr lang="en-US" err="1">
                <a:ea typeface="+mn-lt"/>
                <a:cs typeface="+mn-lt"/>
              </a:rPr>
              <a:t>Kudale</a:t>
            </a:r>
            <a:endParaRPr lang="en-US" err="1"/>
          </a:p>
          <a:p>
            <a:r>
              <a:rPr lang="en-US" b="1" dirty="0">
                <a:ea typeface="+mn-lt"/>
                <a:cs typeface="+mn-lt"/>
              </a:rPr>
              <a:t>Date:</a:t>
            </a:r>
            <a:r>
              <a:rPr lang="en-US" dirty="0">
                <a:ea typeface="+mn-lt"/>
                <a:cs typeface="+mn-lt"/>
              </a:rPr>
              <a:t> 15/04/2025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B22A-9449-666C-EE0D-904BBD115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057" y="207887"/>
            <a:ext cx="4201886" cy="1337658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Aptos"/>
              </a:rPr>
              <a:t>Introduction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9C286-167E-4CCF-BEC6-3A59187AD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854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ea typeface="+mn-lt"/>
                <a:cs typeface="+mn-lt"/>
              </a:rPr>
              <a:t>Age and gender detection is a useful feature in computer vision that helps personalize user experiences, support marketing strategies, and enhance surveillance systems. This project aims to identify a person’s age group and gender from images or videos. By using OpenCV and pretrained deep learning models, it provides a real-time solution that is both fast and accurate.</a:t>
            </a:r>
            <a:endParaRPr lang="en-US" sz="2000" dirty="0"/>
          </a:p>
          <a:p>
            <a:endParaRPr lang="en-US" sz="2000" dirty="0"/>
          </a:p>
        </p:txBody>
      </p:sp>
      <p:pic>
        <p:nvPicPr>
          <p:cNvPr id="4" name="Picture 3" descr="A person sitting at a desk with laptops and a brain&#10;&#10;AI-generated content may be incorrect.">
            <a:extLst>
              <a:ext uri="{FF2B5EF4-FFF2-40B4-BE49-F238E27FC236}">
                <a16:creationId xmlns:a16="http://schemas.microsoft.com/office/drawing/2014/main" id="{8267C6EE-5FD4-840A-F610-419F5736B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536" y="3425371"/>
            <a:ext cx="4260548" cy="268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912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E7957-608F-D2BC-7603-46C844A0C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6010" y="123220"/>
            <a:ext cx="6487886" cy="1337658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ptos"/>
              </a:rPr>
              <a:t>🧩</a:t>
            </a:r>
            <a:r>
              <a:rPr lang="en-US" sz="2200" dirty="0">
                <a:latin typeface="Aptos"/>
              </a:rPr>
              <a:t> </a:t>
            </a:r>
            <a:r>
              <a:rPr lang="en-US" sz="5400" b="1" dirty="0">
                <a:latin typeface="Aptos"/>
              </a:rPr>
              <a:t>Project Overview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C96DF-2F01-6B05-3D11-55CE3F02F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581" y="1753054"/>
            <a:ext cx="4951792" cy="47262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ea typeface="+mn-lt"/>
                <a:cs typeface="+mn-lt"/>
              </a:rPr>
              <a:t>📸 </a:t>
            </a:r>
            <a:r>
              <a:rPr lang="en-US" sz="2000" b="1" dirty="0">
                <a:ea typeface="+mn-lt"/>
                <a:cs typeface="+mn-lt"/>
              </a:rPr>
              <a:t>Input</a:t>
            </a:r>
            <a:endParaRPr lang="en-US" sz="2000"/>
          </a:p>
          <a:p>
            <a:pPr marL="0" indent="0" algn="just">
              <a:buNone/>
            </a:pPr>
            <a:r>
              <a:rPr lang="en-US" sz="2000" dirty="0">
                <a:ea typeface="+mn-lt"/>
                <a:cs typeface="+mn-lt"/>
              </a:rPr>
              <a:t>    Image or Video Stream</a:t>
            </a:r>
            <a:endParaRPr lang="en-US" sz="2000"/>
          </a:p>
          <a:p>
            <a:pPr marL="0" indent="0" algn="just">
              <a:buNone/>
            </a:pPr>
            <a:r>
              <a:rPr lang="en-US" sz="2000" dirty="0">
                <a:ea typeface="+mn-lt"/>
                <a:cs typeface="+mn-lt"/>
              </a:rPr>
              <a:t>👤 </a:t>
            </a:r>
            <a:r>
              <a:rPr lang="en-US" sz="2000" b="1" dirty="0">
                <a:ea typeface="+mn-lt"/>
                <a:cs typeface="+mn-lt"/>
              </a:rPr>
              <a:t>Face Detection</a:t>
            </a:r>
            <a:endParaRPr lang="en-US" sz="2000"/>
          </a:p>
          <a:p>
            <a:pPr marL="0" indent="0" algn="just">
              <a:buNone/>
            </a:pPr>
            <a:r>
              <a:rPr lang="en-US" sz="2000" dirty="0">
                <a:ea typeface="+mn-lt"/>
                <a:cs typeface="+mn-lt"/>
              </a:rPr>
              <a:t>        Locate faces using OpenCV DNN</a:t>
            </a:r>
            <a:endParaRPr lang="en-US" sz="2000"/>
          </a:p>
          <a:p>
            <a:pPr marL="0" indent="0" algn="just">
              <a:buNone/>
            </a:pPr>
            <a:r>
              <a:rPr lang="en-US" sz="2000" dirty="0">
                <a:ea typeface="+mn-lt"/>
                <a:cs typeface="+mn-lt"/>
              </a:rPr>
              <a:t>📊 </a:t>
            </a:r>
            <a:r>
              <a:rPr lang="en-US" sz="2000" b="1" dirty="0">
                <a:ea typeface="+mn-lt"/>
                <a:cs typeface="+mn-lt"/>
              </a:rPr>
              <a:t>Classification</a:t>
            </a:r>
            <a:endParaRPr lang="en-US" sz="2000"/>
          </a:p>
          <a:p>
            <a:pPr marL="0" indent="0" algn="just">
              <a:buNone/>
            </a:pPr>
            <a:r>
              <a:rPr lang="en-US" sz="2000" dirty="0">
                <a:ea typeface="+mn-lt"/>
                <a:cs typeface="+mn-lt"/>
              </a:rPr>
              <a:t>      Predict </a:t>
            </a:r>
            <a:r>
              <a:rPr lang="en-US" sz="2000" b="1" dirty="0">
                <a:ea typeface="+mn-lt"/>
                <a:cs typeface="+mn-lt"/>
              </a:rPr>
              <a:t>Age Group</a:t>
            </a:r>
            <a:r>
              <a:rPr lang="en-US" sz="2000" dirty="0">
                <a:ea typeface="+mn-lt"/>
                <a:cs typeface="+mn-lt"/>
              </a:rPr>
              <a:t> &amp; </a:t>
            </a:r>
            <a:r>
              <a:rPr lang="en-US" sz="2000" b="1" dirty="0">
                <a:ea typeface="+mn-lt"/>
                <a:cs typeface="+mn-lt"/>
              </a:rPr>
              <a:t>Gender</a:t>
            </a:r>
            <a:endParaRPr lang="en-US" sz="2000"/>
          </a:p>
          <a:p>
            <a:pPr marL="0" indent="0" algn="just">
              <a:buNone/>
            </a:pPr>
            <a:r>
              <a:rPr lang="en-US" sz="2000" dirty="0">
                <a:ea typeface="+mn-lt"/>
                <a:cs typeface="+mn-lt"/>
              </a:rPr>
              <a:t>🧠 </a:t>
            </a:r>
            <a:r>
              <a:rPr lang="en-US" sz="2000" b="1" dirty="0">
                <a:ea typeface="+mn-lt"/>
                <a:cs typeface="+mn-lt"/>
              </a:rPr>
              <a:t>Models Used</a:t>
            </a:r>
            <a:endParaRPr lang="en-US" sz="2000"/>
          </a:p>
          <a:p>
            <a:pPr marL="0" indent="0" algn="just">
              <a:buNone/>
            </a:pPr>
            <a:r>
              <a:rPr lang="en-US" sz="2000" dirty="0">
                <a:ea typeface="+mn-lt"/>
                <a:cs typeface="+mn-lt"/>
              </a:rPr>
              <a:t>       Pre-trained Caffe Models</a:t>
            </a:r>
            <a:endParaRPr lang="en-US" sz="2000"/>
          </a:p>
          <a:p>
            <a:pPr marL="0" indent="0" algn="just">
              <a:buNone/>
            </a:pPr>
            <a:r>
              <a:rPr lang="en-US" sz="2000" dirty="0">
                <a:ea typeface="+mn-lt"/>
                <a:cs typeface="+mn-lt"/>
              </a:rPr>
              <a:t>          • Face Detection</a:t>
            </a:r>
            <a:endParaRPr lang="en-US" sz="2000"/>
          </a:p>
          <a:p>
            <a:pPr marL="0" indent="0" algn="just">
              <a:buNone/>
            </a:pPr>
            <a:r>
              <a:rPr lang="en-US" sz="2000" dirty="0">
                <a:ea typeface="+mn-lt"/>
                <a:cs typeface="+mn-lt"/>
              </a:rPr>
              <a:t>          • Age Estimation</a:t>
            </a:r>
            <a:endParaRPr lang="en-US" sz="2000"/>
          </a:p>
          <a:p>
            <a:pPr marL="0" indent="0" algn="just">
              <a:buNone/>
            </a:pPr>
            <a:r>
              <a:rPr lang="en-US" sz="2000" dirty="0">
                <a:ea typeface="+mn-lt"/>
                <a:cs typeface="+mn-lt"/>
              </a:rPr>
              <a:t>          • Gender Classification</a:t>
            </a:r>
            <a:endParaRPr lang="en-US" sz="2000" dirty="0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group of people standing around a computer screen&#10;&#10;AI-generated content may be incorrect.">
            <a:extLst>
              <a:ext uri="{FF2B5EF4-FFF2-40B4-BE49-F238E27FC236}">
                <a16:creationId xmlns:a16="http://schemas.microsoft.com/office/drawing/2014/main" id="{403D2684-CFCA-8FFE-5123-E47BA60F6C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94" b="11409"/>
          <a:stretch/>
        </p:blipFill>
        <p:spPr>
          <a:xfrm>
            <a:off x="6749144" y="2515809"/>
            <a:ext cx="4971145" cy="31931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1792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C6C11-B105-5D66-BC1D-81A07729F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724" y="159506"/>
            <a:ext cx="4347029" cy="1337658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Aptos"/>
              </a:rPr>
              <a:t>Models Used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3C4F9-F3DC-CC38-2069-4218D04DB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67" y="1595815"/>
            <a:ext cx="6296782" cy="47250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>
                <a:ea typeface="+mn-lt"/>
                <a:cs typeface="+mn-lt"/>
              </a:rPr>
              <a:t>Face Detection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Uses OpenCV deep learning model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Detects faces in images or video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Files: </a:t>
            </a:r>
            <a:r>
              <a:rPr lang="en-US" sz="2000" b="1" dirty="0">
                <a:latin typeface="Consolas"/>
                <a:ea typeface="+mn-lt"/>
                <a:cs typeface="+mn-lt"/>
              </a:rPr>
              <a:t>.pb</a:t>
            </a:r>
            <a:r>
              <a:rPr lang="en-US" sz="2000" b="1" dirty="0">
                <a:ea typeface="+mn-lt"/>
                <a:cs typeface="+mn-lt"/>
              </a:rPr>
              <a:t>, </a:t>
            </a:r>
            <a:r>
              <a:rPr lang="en-US" sz="2000" b="1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en-US" sz="2000" b="1" err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pbtxt</a:t>
            </a:r>
            <a:endParaRPr lang="en-US" sz="2000" b="1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Age Detection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Uses a Caffe model trained on Adience dataset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Predicts age group from 0 to 100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Files: </a:t>
            </a:r>
            <a:r>
              <a:rPr lang="en-US" sz="2000" b="1" dirty="0">
                <a:latin typeface="Consolas"/>
                <a:ea typeface="+mn-lt"/>
                <a:cs typeface="+mn-lt"/>
              </a:rPr>
              <a:t>.</a:t>
            </a:r>
            <a:r>
              <a:rPr lang="en-US" sz="2000" b="1" err="1">
                <a:latin typeface="Consolas"/>
                <a:ea typeface="+mn-lt"/>
                <a:cs typeface="+mn-lt"/>
              </a:rPr>
              <a:t>caffemodel</a:t>
            </a:r>
            <a:r>
              <a:rPr lang="en-US" sz="2000" b="1" dirty="0">
                <a:ea typeface="+mn-lt"/>
                <a:cs typeface="+mn-lt"/>
              </a:rPr>
              <a:t>, </a:t>
            </a:r>
            <a:r>
              <a:rPr lang="en-US" sz="2000" b="1" dirty="0">
                <a:latin typeface="Consolas"/>
                <a:ea typeface="+mn-lt"/>
                <a:cs typeface="+mn-lt"/>
              </a:rPr>
              <a:t>.</a:t>
            </a:r>
            <a:r>
              <a:rPr lang="en-US" sz="2000" b="1" err="1">
                <a:latin typeface="Consolas"/>
                <a:ea typeface="+mn-lt"/>
                <a:cs typeface="+mn-lt"/>
              </a:rPr>
              <a:t>prototxt</a:t>
            </a:r>
            <a:endParaRPr lang="en-US" sz="2000" b="1">
              <a:latin typeface="Consolas"/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Age groups: </a:t>
            </a:r>
            <a:r>
              <a:rPr lang="en-US" sz="2000" dirty="0">
                <a:latin typeface="Consolas"/>
                <a:ea typeface="+mn-lt"/>
                <a:cs typeface="+mn-lt"/>
              </a:rPr>
              <a:t>(0-2)</a:t>
            </a:r>
            <a:r>
              <a:rPr lang="en-US" sz="2000" dirty="0">
                <a:ea typeface="+mn-lt"/>
                <a:cs typeface="+mn-lt"/>
              </a:rPr>
              <a:t> to </a:t>
            </a:r>
            <a:r>
              <a:rPr lang="en-US" sz="2000" dirty="0">
                <a:latin typeface="Consolas"/>
                <a:ea typeface="+mn-lt"/>
                <a:cs typeface="+mn-lt"/>
              </a:rPr>
              <a:t>(60-100)</a:t>
            </a:r>
          </a:p>
          <a:p>
            <a:r>
              <a:rPr lang="en-US" sz="2000" b="1" dirty="0">
                <a:ea typeface="+mn-lt"/>
                <a:cs typeface="+mn-lt"/>
              </a:rPr>
              <a:t>Gender Detection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Uses a Caffe model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Classifies face as Male or Female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Files: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>
                <a:latin typeface="Consolas"/>
              </a:rPr>
              <a:t>.</a:t>
            </a:r>
            <a:r>
              <a:rPr lang="en-US" sz="2000" b="1" err="1">
                <a:latin typeface="Consolas"/>
              </a:rPr>
              <a:t>caffemodel</a:t>
            </a:r>
            <a:r>
              <a:rPr lang="en-US" sz="2000" b="1" dirty="0">
                <a:ea typeface="+mn-lt"/>
                <a:cs typeface="+mn-lt"/>
              </a:rPr>
              <a:t>, </a:t>
            </a:r>
            <a:r>
              <a:rPr lang="en-US" sz="2000" b="1" dirty="0">
                <a:latin typeface="Consolas"/>
              </a:rPr>
              <a:t>.</a:t>
            </a:r>
            <a:r>
              <a:rPr lang="en-US" sz="2000" b="1" err="1">
                <a:latin typeface="Consolas"/>
              </a:rPr>
              <a:t>prototxt</a:t>
            </a:r>
            <a:endParaRPr lang="en-US" sz="2000" b="1"/>
          </a:p>
          <a:p>
            <a:endParaRPr lang="en-US" sz="2000" dirty="0"/>
          </a:p>
        </p:txBody>
      </p:sp>
      <p:pic>
        <p:nvPicPr>
          <p:cNvPr id="5" name="Picture 4" descr="A cartoon of a person&amp;#39;s face&#10;&#10;AI-generated content may be incorrect.">
            <a:extLst>
              <a:ext uri="{FF2B5EF4-FFF2-40B4-BE49-F238E27FC236}">
                <a16:creationId xmlns:a16="http://schemas.microsoft.com/office/drawing/2014/main" id="{DCF75573-5B32-41CB-BEC3-BF571431DA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93" t="286" r="26520" b="730"/>
          <a:stretch/>
        </p:blipFill>
        <p:spPr>
          <a:xfrm>
            <a:off x="9475637" y="3425759"/>
            <a:ext cx="1760201" cy="18304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 descr="A diagram of a process of recognition&#10;&#10;AI-generated content may be incorrect.">
            <a:extLst>
              <a:ext uri="{FF2B5EF4-FFF2-40B4-BE49-F238E27FC236}">
                <a16:creationId xmlns:a16="http://schemas.microsoft.com/office/drawing/2014/main" id="{29553483-6720-40FA-0BEB-4CD6254652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4" t="3170" r="521" b="3977"/>
          <a:stretch/>
        </p:blipFill>
        <p:spPr>
          <a:xfrm>
            <a:off x="6599767" y="1181327"/>
            <a:ext cx="4773520" cy="20242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A cartoon of a person&amp;#39;s face&#10;&#10;AI-generated content may be incorrect.">
            <a:extLst>
              <a:ext uri="{FF2B5EF4-FFF2-40B4-BE49-F238E27FC236}">
                <a16:creationId xmlns:a16="http://schemas.microsoft.com/office/drawing/2014/main" id="{25C8810E-19F1-15C9-879F-439AB0CA7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9942" y="4865915"/>
            <a:ext cx="3179146" cy="199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203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E62B0-B8F8-FF25-285B-C457CA7DD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983" y="690"/>
            <a:ext cx="6573079" cy="1347649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Aptos"/>
              </a:rPr>
              <a:t>System Architecture</a:t>
            </a:r>
            <a:endParaRPr lang="en-US" sz="5400" dirty="0"/>
          </a:p>
        </p:txBody>
      </p:sp>
      <p:pic>
        <p:nvPicPr>
          <p:cNvPr id="4" name="Picture 3" descr="A diagram of a face detection process&#10;&#10;AI-generated content may be incorrect.">
            <a:extLst>
              <a:ext uri="{FF2B5EF4-FFF2-40B4-BE49-F238E27FC236}">
                <a16:creationId xmlns:a16="http://schemas.microsoft.com/office/drawing/2014/main" id="{B25F0DE3-6F91-DDD2-7242-6EF9A0CE1F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7" t="17045" r="158" b="30114"/>
          <a:stretch/>
        </p:blipFill>
        <p:spPr>
          <a:xfrm>
            <a:off x="578461" y="2513979"/>
            <a:ext cx="7091105" cy="2604587"/>
          </a:xfrm>
          <a:prstGeom prst="rect">
            <a:avLst/>
          </a:prstGeom>
        </p:spPr>
      </p:pic>
      <p:pic>
        <p:nvPicPr>
          <p:cNvPr id="5" name="Picture 4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994D9262-0604-B83C-9C0F-8810ACAE8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490" y="1481136"/>
            <a:ext cx="3609975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027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87578-2385-476D-775C-DA95AE165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3157" y="188429"/>
            <a:ext cx="3425687" cy="1347649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Aptos"/>
              </a:rPr>
              <a:t> Workflow</a:t>
            </a:r>
            <a:endParaRPr lang="en-US" sz="5400" dirty="0"/>
          </a:p>
        </p:txBody>
      </p:sp>
      <p:pic>
        <p:nvPicPr>
          <p:cNvPr id="4" name="Picture 3" descr="A diagram of a face detection system&#10;&#10;AI-generated content may be incorrect.">
            <a:extLst>
              <a:ext uri="{FF2B5EF4-FFF2-40B4-BE49-F238E27FC236}">
                <a16:creationId xmlns:a16="http://schemas.microsoft.com/office/drawing/2014/main" id="{26EE094F-4692-7C92-F86A-B7408A441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479" y="1413565"/>
            <a:ext cx="3290957" cy="49364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582E33-75AF-CA6F-7E4D-425CE93D44C1}"/>
              </a:ext>
            </a:extLst>
          </p:cNvPr>
          <p:cNvSpPr txBox="1"/>
          <p:nvPr/>
        </p:nvSpPr>
        <p:spPr>
          <a:xfrm>
            <a:off x="174487" y="1764747"/>
            <a:ext cx="8033026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1. Load Caffe-based Age and Gender Models</a:t>
            </a:r>
          </a:p>
          <a:p>
            <a:r>
              <a:rPr lang="en-US" dirty="0"/>
              <a:t>Pre-trained deep learning models built using the Caffe framework are loaded into memory. These models are trained to predict a person’s age and gender from facial features.</a:t>
            </a:r>
          </a:p>
          <a:p>
            <a:endParaRPr lang="en-US" dirty="0"/>
          </a:p>
          <a:p>
            <a:r>
              <a:rPr lang="en-US" b="1" dirty="0"/>
              <a:t>2. Load OpenCV’s Face Detection Model</a:t>
            </a:r>
          </a:p>
          <a:p>
            <a:r>
              <a:rPr lang="en-US" dirty="0"/>
              <a:t>An OpenCV-supported model (like a DNN or Haar Cascade) is loaded to detect faces in images or video frames. This model locates the position of faces in a frame.</a:t>
            </a:r>
          </a:p>
          <a:p>
            <a:endParaRPr lang="en-US" dirty="0"/>
          </a:p>
          <a:p>
            <a:r>
              <a:rPr lang="en-US" b="1" dirty="0"/>
              <a:t>3. Read the Input Image or Video Frame</a:t>
            </a:r>
          </a:p>
          <a:p>
            <a:r>
              <a:rPr lang="en-US" dirty="0"/>
              <a:t>An image is captured from a camera or loaded from a file/video. This is the frame where face detection and analysis will be applied.</a:t>
            </a:r>
          </a:p>
          <a:p>
            <a:endParaRPr lang="en-US" dirty="0"/>
          </a:p>
          <a:p>
            <a:r>
              <a:rPr lang="en-US" b="1" dirty="0"/>
              <a:t>4. Detect Faces Using the Face Detection Model</a:t>
            </a:r>
          </a:p>
          <a:p>
            <a:r>
              <a:rPr lang="en-US" dirty="0"/>
              <a:t>The face detection model scans the frame and identifies the coordinates of any detected faces, usually returning bounding boxes.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69299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12C79-6FC7-4078-1B8B-E0570FB91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14" y="567720"/>
            <a:ext cx="10406742" cy="466581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/>
              <a:t>5. For Each Face:</a:t>
            </a:r>
            <a:endParaRPr lang="en-US" sz="2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A loop processes each detected face individually: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/>
              <a:t>    a. Extract the Face ROI</a:t>
            </a:r>
            <a:endParaRPr lang="en-US" sz="2000" dirty="0"/>
          </a:p>
          <a:p>
            <a:pPr lvl="1" algn="just">
              <a:lnSpc>
                <a:spcPct val="100000"/>
              </a:lnSpc>
              <a:spcBef>
                <a:spcPts val="0"/>
              </a:spcBef>
              <a:buFont typeface="Courier New" panose="020B0604020202020204" pitchFamily="34" charset="0"/>
              <a:buChar char="o"/>
            </a:pPr>
            <a:r>
              <a:rPr lang="en-US" sz="2000" dirty="0"/>
              <a:t>The Region of Interest (ROI) is cropped from the image using the face coordinates.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/>
              <a:t>     b. Convert the Image to a Blob</a:t>
            </a:r>
            <a:endParaRPr lang="en-US" sz="2000" dirty="0"/>
          </a:p>
          <a:p>
            <a:pPr lvl="1" algn="just">
              <a:lnSpc>
                <a:spcPct val="100000"/>
              </a:lnSpc>
              <a:spcBef>
                <a:spcPts val="0"/>
              </a:spcBef>
              <a:buFont typeface="Courier New" panose="020B0604020202020204" pitchFamily="34" charset="0"/>
              <a:buChar char="o"/>
            </a:pPr>
            <a:r>
              <a:rPr lang="en-US" sz="2000" dirty="0"/>
              <a:t>The ROI is preprocessed (resized, normalized) and converted into a blob—a format compatible with deep learning models.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/>
              <a:t>      c. Predict Gender and Age</a:t>
            </a:r>
            <a:endParaRPr lang="en-US" sz="2000" dirty="0"/>
          </a:p>
          <a:p>
            <a:pPr lvl="1" algn="just">
              <a:lnSpc>
                <a:spcPct val="100000"/>
              </a:lnSpc>
              <a:spcBef>
                <a:spcPts val="0"/>
              </a:spcBef>
              <a:buFont typeface="Courier New" panose="020B0604020202020204" pitchFamily="34" charset="0"/>
              <a:buChar char="o"/>
            </a:pPr>
            <a:r>
              <a:rPr lang="en-US" sz="2000" dirty="0"/>
              <a:t>The preprocessed face blob is fed into the Caffe models to generate predictions for gender and age.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buFont typeface="Courier New" panose="020B0604020202020204" pitchFamily="34" charset="0"/>
              <a:buChar char="o"/>
            </a:pPr>
            <a:endParaRPr lang="en-US" sz="2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/>
              <a:t>6. Annotate the Image with Results</a:t>
            </a:r>
            <a:endParaRPr lang="en-US" sz="2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The original frame is marked with rectangles and text showing the predicted age and gender       for each detected face.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/>
              <a:t>7. Display or Save the Output</a:t>
            </a:r>
            <a:endParaRPr lang="en-US" sz="2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The annotated image can be displayed in a window or saved to disk for further use or review.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81359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20F1A-B3A6-398C-A5B8-2984D4C6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962" y="2267"/>
            <a:ext cx="8193315" cy="1337658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Aptos"/>
              </a:rPr>
              <a:t>detect.py Code Summary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8074A-1EF9-FCA3-00DF-E3E484483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581" y="966863"/>
            <a:ext cx="11059885" cy="589952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u="sng" dirty="0"/>
              <a:t>Key Functions:</a:t>
            </a:r>
            <a:endParaRPr lang="en-US" sz="2000" u="sng" dirty="0"/>
          </a:p>
          <a:p>
            <a:pPr marL="0" indent="0">
              <a:buNone/>
            </a:pPr>
            <a:r>
              <a:rPr lang="en-US" sz="2000" dirty="0" err="1">
                <a:latin typeface="Consolas"/>
              </a:rPr>
              <a:t>highlightFace</a:t>
            </a:r>
            <a:r>
              <a:rPr lang="en-US" sz="2000" dirty="0">
                <a:latin typeface="Consolas"/>
              </a:rPr>
              <a:t>(net, frame, </a:t>
            </a:r>
            <a:r>
              <a:rPr lang="en-US" sz="2000" dirty="0" err="1">
                <a:latin typeface="Consolas"/>
              </a:rPr>
              <a:t>conf_threshold</a:t>
            </a:r>
            <a:r>
              <a:rPr lang="en-US" sz="2000" dirty="0">
                <a:latin typeface="Consolas"/>
              </a:rPr>
              <a:t>=0.7)</a:t>
            </a:r>
            <a:endParaRPr lang="en-US" sz="2000" dirty="0"/>
          </a:p>
          <a:p>
            <a:pPr marL="457200" lvl="1" indent="0">
              <a:buNone/>
            </a:pPr>
            <a:r>
              <a:rPr lang="en-US" sz="2000" dirty="0">
                <a:ea typeface="+mn-lt"/>
                <a:cs typeface="+mn-lt"/>
              </a:rPr>
              <a:t>Uses a DNN to detect faces and return their bounding boxes.</a:t>
            </a:r>
            <a:endParaRPr lang="en-US" sz="2000" dirty="0"/>
          </a:p>
          <a:p>
            <a:pPr marL="0" indent="0">
              <a:buNone/>
            </a:pPr>
            <a:r>
              <a:rPr lang="en-US" sz="2000" b="1" u="sng" dirty="0">
                <a:ea typeface="+mn-lt"/>
                <a:cs typeface="+mn-lt"/>
              </a:rPr>
              <a:t>Model Initialization:</a:t>
            </a:r>
            <a:endParaRPr lang="en-US" sz="2000" u="sng" dirty="0"/>
          </a:p>
          <a:p>
            <a:pPr marL="0" indent="0">
              <a:buNone/>
            </a:pPr>
            <a:r>
              <a:rPr lang="en-US" sz="2000" dirty="0" err="1">
                <a:latin typeface="Consolas"/>
              </a:rPr>
              <a:t>ageNet</a:t>
            </a:r>
            <a:r>
              <a:rPr lang="en-US" sz="2000" dirty="0">
                <a:latin typeface="Consolas"/>
              </a:rPr>
              <a:t> = cv2.dnn.readNet(</a:t>
            </a:r>
            <a:r>
              <a:rPr lang="en-US" sz="2000" dirty="0" err="1">
                <a:latin typeface="Consolas"/>
              </a:rPr>
              <a:t>ageModel</a:t>
            </a:r>
            <a:r>
              <a:rPr lang="en-US" sz="2000" dirty="0">
                <a:latin typeface="Consolas"/>
              </a:rPr>
              <a:t>, </a:t>
            </a:r>
            <a:r>
              <a:rPr lang="en-US" sz="2000" dirty="0" err="1">
                <a:latin typeface="Consolas"/>
              </a:rPr>
              <a:t>ageProto</a:t>
            </a:r>
            <a:r>
              <a:rPr lang="en-US" sz="2000" dirty="0">
                <a:latin typeface="Consolas"/>
              </a:rPr>
              <a:t>)</a:t>
            </a:r>
            <a:br>
              <a:rPr lang="en-US" sz="2000" dirty="0">
                <a:latin typeface="Consolas"/>
              </a:rPr>
            </a:br>
            <a:r>
              <a:rPr lang="en-US" sz="2000" dirty="0" err="1">
                <a:latin typeface="Consolas"/>
              </a:rPr>
              <a:t>genderNet</a:t>
            </a:r>
            <a:r>
              <a:rPr lang="en-US" sz="2000" dirty="0">
                <a:latin typeface="Consolas"/>
              </a:rPr>
              <a:t> = cv2.dnn.readNet(</a:t>
            </a:r>
            <a:r>
              <a:rPr lang="en-US" sz="2000" dirty="0" err="1">
                <a:latin typeface="Consolas"/>
              </a:rPr>
              <a:t>genderModel</a:t>
            </a:r>
            <a:r>
              <a:rPr lang="en-US" sz="2000" dirty="0">
                <a:latin typeface="Consolas"/>
              </a:rPr>
              <a:t>, </a:t>
            </a:r>
            <a:r>
              <a:rPr lang="en-US" sz="2000" dirty="0" err="1">
                <a:latin typeface="Consolas"/>
              </a:rPr>
              <a:t>genderProto</a:t>
            </a:r>
            <a:r>
              <a:rPr lang="en-US" sz="2000" dirty="0">
                <a:latin typeface="Consolas"/>
              </a:rPr>
              <a:t>)</a:t>
            </a:r>
          </a:p>
          <a:p>
            <a:pPr marL="0" indent="0">
              <a:buNone/>
            </a:pPr>
            <a:r>
              <a:rPr lang="en-US" sz="2000" b="1" u="sng" dirty="0">
                <a:ea typeface="+mn-lt"/>
                <a:cs typeface="+mn-lt"/>
              </a:rPr>
              <a:t>Blob Creation:</a:t>
            </a:r>
            <a:endParaRPr lang="en-US" sz="2000" u="sng" dirty="0"/>
          </a:p>
          <a:p>
            <a:pPr marL="0" indent="0">
              <a:buNone/>
            </a:pPr>
            <a:r>
              <a:rPr lang="en-US" sz="2000" dirty="0">
                <a:latin typeface="Consolas"/>
              </a:rPr>
              <a:t>blob = cv2.dnn.blobFromImage(face, 1.0, (227, 227), MODEL_MEAN_VALUES, </a:t>
            </a:r>
            <a:r>
              <a:rPr lang="en-US" sz="2000" dirty="0" err="1">
                <a:latin typeface="Consolas"/>
              </a:rPr>
              <a:t>swapRB</a:t>
            </a:r>
            <a:r>
              <a:rPr lang="en-US" sz="2000" dirty="0">
                <a:latin typeface="Consolas"/>
              </a:rPr>
              <a:t>=False)</a:t>
            </a:r>
          </a:p>
          <a:p>
            <a:pPr marL="0" indent="0">
              <a:buNone/>
            </a:pPr>
            <a:r>
              <a:rPr lang="en-US" sz="2000" b="1" u="sng" dirty="0">
                <a:ea typeface="+mn-lt"/>
                <a:cs typeface="+mn-lt"/>
              </a:rPr>
              <a:t>Prediction:</a:t>
            </a:r>
            <a:endParaRPr lang="en-US" sz="2000" u="sng" dirty="0"/>
          </a:p>
          <a:p>
            <a:pPr marL="0" indent="0">
              <a:buNone/>
            </a:pPr>
            <a:r>
              <a:rPr lang="en-US" sz="2000" dirty="0" err="1">
                <a:latin typeface="Consolas"/>
              </a:rPr>
              <a:t>genderNet.setInput</a:t>
            </a:r>
            <a:r>
              <a:rPr lang="en-US" sz="2000" dirty="0">
                <a:latin typeface="Consolas"/>
              </a:rPr>
              <a:t>(blob)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gender = </a:t>
            </a:r>
            <a:r>
              <a:rPr lang="en-US" sz="2000" dirty="0" err="1">
                <a:latin typeface="Consolas"/>
              </a:rPr>
              <a:t>genderList</a:t>
            </a:r>
            <a:r>
              <a:rPr lang="en-US" sz="2000" dirty="0">
                <a:latin typeface="Consolas"/>
              </a:rPr>
              <a:t>[</a:t>
            </a:r>
            <a:r>
              <a:rPr lang="en-US" sz="2000" dirty="0" err="1">
                <a:latin typeface="Consolas"/>
              </a:rPr>
              <a:t>genderNet.forward</a:t>
            </a:r>
            <a:r>
              <a:rPr lang="en-US" sz="2000" dirty="0">
                <a:latin typeface="Consolas"/>
              </a:rPr>
              <a:t>().argmax()]</a:t>
            </a:r>
          </a:p>
          <a:p>
            <a:pPr>
              <a:buNone/>
            </a:pPr>
            <a:r>
              <a:rPr lang="en-US" sz="2000" err="1">
                <a:latin typeface="Consolas"/>
                <a:ea typeface="+mn-lt"/>
                <a:cs typeface="+mn-lt"/>
              </a:rPr>
              <a:t>ageNet.setInput</a:t>
            </a:r>
            <a:r>
              <a:rPr lang="en-US" sz="2000" dirty="0">
                <a:latin typeface="Consolas"/>
                <a:ea typeface="+mn-lt"/>
                <a:cs typeface="+mn-lt"/>
              </a:rPr>
              <a:t>(blob)</a:t>
            </a:r>
            <a:endParaRPr lang="en-US" sz="2000"/>
          </a:p>
          <a:p>
            <a:pPr>
              <a:buNone/>
            </a:pPr>
            <a:r>
              <a:rPr lang="en-US" sz="2000" err="1">
                <a:latin typeface="Consolas"/>
                <a:ea typeface="+mn-lt"/>
                <a:cs typeface="+mn-lt"/>
              </a:rPr>
              <a:t>agePreds</a:t>
            </a:r>
            <a:r>
              <a:rPr lang="en-US" sz="2000" dirty="0">
                <a:latin typeface="Consolas"/>
                <a:ea typeface="+mn-lt"/>
                <a:cs typeface="+mn-lt"/>
              </a:rPr>
              <a:t> = </a:t>
            </a:r>
            <a:r>
              <a:rPr lang="en-US" sz="2000" err="1">
                <a:latin typeface="Consolas"/>
                <a:ea typeface="+mn-lt"/>
                <a:cs typeface="+mn-lt"/>
              </a:rPr>
              <a:t>ageNet</a:t>
            </a:r>
            <a:r>
              <a:rPr lang="en-US" sz="2000" dirty="0">
                <a:latin typeface="Consolas"/>
                <a:ea typeface="+mn-lt"/>
                <a:cs typeface="+mn-lt"/>
              </a:rPr>
              <a:t>.[</a:t>
            </a:r>
            <a:r>
              <a:rPr lang="en-US" sz="2000" err="1">
                <a:latin typeface="Consolas"/>
                <a:ea typeface="+mn-lt"/>
                <a:cs typeface="+mn-lt"/>
              </a:rPr>
              <a:t>genderNet.forward</a:t>
            </a:r>
            <a:r>
              <a:rPr lang="en-US" sz="2000" dirty="0">
                <a:latin typeface="Consolas"/>
                <a:ea typeface="+mn-lt"/>
                <a:cs typeface="+mn-lt"/>
              </a:rPr>
              <a:t>().argmax()]</a:t>
            </a:r>
          </a:p>
          <a:p>
            <a:pPr marL="0" indent="0">
              <a:buNone/>
            </a:pPr>
            <a:r>
              <a:rPr lang="en-US" sz="2000" b="1" u="sng" dirty="0">
                <a:ea typeface="+mn-lt"/>
                <a:cs typeface="+mn-lt"/>
              </a:rPr>
              <a:t>Annotation:</a:t>
            </a:r>
            <a:endParaRPr lang="en-US" sz="2000" u="sng" dirty="0"/>
          </a:p>
          <a:p>
            <a:pPr marL="457200" lvl="1" indent="0">
              <a:buNone/>
            </a:pPr>
            <a:r>
              <a:rPr lang="en-US" sz="2000" dirty="0">
                <a:ea typeface="+mn-lt"/>
                <a:cs typeface="+mn-lt"/>
              </a:rPr>
              <a:t>Draws boxes and labels over faces with predicted age and gender.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467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0440-64F2-EA9D-29F5-787B547D4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9914" y="2268"/>
            <a:ext cx="7032172" cy="1337658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Aptos"/>
              </a:rPr>
              <a:t>Output Screenshots</a:t>
            </a:r>
            <a:endParaRPr lang="en-US" sz="5400" dirty="0"/>
          </a:p>
        </p:txBody>
      </p:sp>
      <p:pic>
        <p:nvPicPr>
          <p:cNvPr id="4" name="Picture 3" descr="A person smiling with a green rectangle&#10;&#10;AI-generated content may be incorrect.">
            <a:extLst>
              <a:ext uri="{FF2B5EF4-FFF2-40B4-BE49-F238E27FC236}">
                <a16:creationId xmlns:a16="http://schemas.microsoft.com/office/drawing/2014/main" id="{E31F4B01-DFCA-221D-B629-52D53D41C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499" y="1717524"/>
            <a:ext cx="5768430" cy="4233334"/>
          </a:xfrm>
          <a:prstGeom prst="rect">
            <a:avLst/>
          </a:prstGeom>
        </p:spPr>
      </p:pic>
      <p:pic>
        <p:nvPicPr>
          <p:cNvPr id="5" name="Picture 4" descr="A person smiling with a green rectangle&#10;&#10;AI-generated content may be incorrect.">
            <a:extLst>
              <a:ext uri="{FF2B5EF4-FFF2-40B4-BE49-F238E27FC236}">
                <a16:creationId xmlns:a16="http://schemas.microsoft.com/office/drawing/2014/main" id="{1719F2B2-847C-7B0C-FAA0-D9E14E34A5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615" t="14634" r="37692" b="36237"/>
          <a:stretch/>
        </p:blipFill>
        <p:spPr>
          <a:xfrm>
            <a:off x="1705926" y="1850571"/>
            <a:ext cx="2422125" cy="3168955"/>
          </a:xfrm>
          <a:prstGeom prst="rect">
            <a:avLst/>
          </a:prstGeom>
        </p:spPr>
      </p:pic>
      <p:pic>
        <p:nvPicPr>
          <p:cNvPr id="6" name="Picture 5" descr="A person smiling with a green rectangle&#10;&#10;AI-generated content may be incorrect.">
            <a:extLst>
              <a:ext uri="{FF2B5EF4-FFF2-40B4-BE49-F238E27FC236}">
                <a16:creationId xmlns:a16="http://schemas.microsoft.com/office/drawing/2014/main" id="{A56D4577-47EC-6EE7-42B9-7AACD80303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667" t="20610" r="16410" b="70889"/>
          <a:stretch/>
        </p:blipFill>
        <p:spPr>
          <a:xfrm>
            <a:off x="254498" y="5472631"/>
            <a:ext cx="5327107" cy="92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286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652AE641-6DAD-A3F7-6A9A-101A7A18C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024" y="2263321"/>
            <a:ext cx="3657299" cy="23374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DBCF5C-103D-3E31-97AA-E0F474F86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629" y="195792"/>
            <a:ext cx="4552648" cy="1337658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Aptos"/>
              </a:rPr>
              <a:t>Future Scope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7950A-D7BD-4396-4159-AEB0D046B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58553" cy="2137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Upgrade to more accurate and lightweight models (e.g., MobileNet, ResNet).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Deploy in web or mobile applications.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Integrate emotion recognition alongside age/gender.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Improve model performance with diverse datasets.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Use TensorFlow Lite or ONNX for edge deployment.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  <p:pic>
        <p:nvPicPr>
          <p:cNvPr id="4" name="Picture 3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D914F0E3-CBE6-DF02-33B1-E705DD3E4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905" y="4655154"/>
            <a:ext cx="3507620" cy="1950358"/>
          </a:xfrm>
          <a:prstGeom prst="rect">
            <a:avLst/>
          </a:prstGeom>
        </p:spPr>
      </p:pic>
      <p:pic>
        <p:nvPicPr>
          <p:cNvPr id="5" name="Picture 4" descr="A collage of a person&amp;#39;s face&#10;&#10;AI-generated content may be incorrect.">
            <a:extLst>
              <a:ext uri="{FF2B5EF4-FFF2-40B4-BE49-F238E27FC236}">
                <a16:creationId xmlns:a16="http://schemas.microsoft.com/office/drawing/2014/main" id="{6B543DDB-7FF5-8813-AFDB-45C2F0CC7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4337655"/>
            <a:ext cx="2101850" cy="23718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CFE4DE-2AA9-243F-6B21-82BAF6E95D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713" y="4346725"/>
            <a:ext cx="3888620" cy="205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807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8C280-9183-B25B-00C8-8F759D053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486" y="377220"/>
            <a:ext cx="4129315" cy="1337658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Aptos"/>
              </a:rPr>
              <a:t>Conclusion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D3659-5AE3-8E5D-F214-FDA753F45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819" y="1716768"/>
            <a:ext cx="10612361" cy="478676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000" dirty="0">
                <a:ea typeface="+mn-lt"/>
                <a:cs typeface="+mn-lt"/>
              </a:rPr>
              <a:t>This project demonstrates a </a:t>
            </a:r>
            <a:r>
              <a:rPr lang="en-US" sz="2000" b="1" dirty="0">
                <a:ea typeface="+mn-lt"/>
                <a:cs typeface="+mn-lt"/>
              </a:rPr>
              <a:t>practical application of deep learning in computer vision</a:t>
            </a:r>
            <a:r>
              <a:rPr lang="en-US" sz="2000" dirty="0">
                <a:ea typeface="+mn-lt"/>
                <a:cs typeface="+mn-lt"/>
              </a:rPr>
              <a:t>, specifically targeting human-centric tasks like facial analysis.</a:t>
            </a:r>
            <a:endParaRPr lang="en-US" sz="2000" dirty="0"/>
          </a:p>
          <a:p>
            <a:pPr algn="just"/>
            <a:r>
              <a:rPr lang="en-US" sz="2000" b="1" dirty="0">
                <a:ea typeface="+mn-lt"/>
                <a:cs typeface="+mn-lt"/>
              </a:rPr>
              <a:t>Real-time age and gender classification</a:t>
            </a:r>
            <a:r>
              <a:rPr lang="en-US" sz="2000" dirty="0">
                <a:ea typeface="+mn-lt"/>
                <a:cs typeface="+mn-lt"/>
              </a:rPr>
              <a:t> using pre-trained models is both </a:t>
            </a:r>
            <a:r>
              <a:rPr lang="en-US" sz="2000" b="1" dirty="0">
                <a:ea typeface="+mn-lt"/>
                <a:cs typeface="+mn-lt"/>
              </a:rPr>
              <a:t>feasible and efficient</a:t>
            </a:r>
            <a:r>
              <a:rPr lang="en-US" sz="2000" dirty="0">
                <a:ea typeface="+mn-lt"/>
                <a:cs typeface="+mn-lt"/>
              </a:rPr>
              <a:t>, making it suitable for deployment in real-world scenarios.</a:t>
            </a:r>
            <a:endParaRPr lang="en-US" sz="2000" dirty="0"/>
          </a:p>
          <a:p>
            <a:pPr algn="just"/>
            <a:r>
              <a:rPr lang="en-US" sz="2000" dirty="0">
                <a:ea typeface="+mn-lt"/>
                <a:cs typeface="+mn-lt"/>
              </a:rPr>
              <a:t>By leveraging </a:t>
            </a:r>
            <a:r>
              <a:rPr lang="en-US" sz="2000" b="1" dirty="0">
                <a:ea typeface="+mn-lt"/>
                <a:cs typeface="+mn-lt"/>
              </a:rPr>
              <a:t>Caffe-based models and OpenCV’s DNN module</a:t>
            </a:r>
            <a:r>
              <a:rPr lang="en-US" sz="2000" dirty="0">
                <a:ea typeface="+mn-lt"/>
                <a:cs typeface="+mn-lt"/>
              </a:rPr>
              <a:t>, the system achieves a good balance between </a:t>
            </a:r>
            <a:r>
              <a:rPr lang="en-US" sz="2000" b="1" dirty="0">
                <a:ea typeface="+mn-lt"/>
                <a:cs typeface="+mn-lt"/>
              </a:rPr>
              <a:t>accuracy and performance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pPr algn="just"/>
            <a:r>
              <a:rPr lang="en-US" sz="2000" dirty="0">
                <a:ea typeface="+mn-lt"/>
                <a:cs typeface="+mn-lt"/>
              </a:rPr>
              <a:t>The pipeline can be easily integrated into </a:t>
            </a:r>
            <a:r>
              <a:rPr lang="en-US" sz="2000" b="1" dirty="0">
                <a:ea typeface="+mn-lt"/>
                <a:cs typeface="+mn-lt"/>
              </a:rPr>
              <a:t>surveillance systems, retail analytics, human-computer interaction interfaces</a:t>
            </a:r>
            <a:r>
              <a:rPr lang="en-US" sz="2000" dirty="0">
                <a:ea typeface="+mn-lt"/>
                <a:cs typeface="+mn-lt"/>
              </a:rPr>
              <a:t>, and more.</a:t>
            </a:r>
            <a:endParaRPr lang="en-US" sz="2000" dirty="0"/>
          </a:p>
          <a:p>
            <a:pPr algn="just"/>
            <a:r>
              <a:rPr lang="en-US" sz="2000" dirty="0">
                <a:ea typeface="+mn-lt"/>
                <a:cs typeface="+mn-lt"/>
              </a:rPr>
              <a:t>It showcases the power of </a:t>
            </a:r>
            <a:r>
              <a:rPr lang="en-US" sz="2000" b="1" dirty="0">
                <a:ea typeface="+mn-lt"/>
                <a:cs typeface="+mn-lt"/>
              </a:rPr>
              <a:t>transfer learning</a:t>
            </a:r>
            <a:r>
              <a:rPr lang="en-US" sz="2000" dirty="0">
                <a:ea typeface="+mn-lt"/>
                <a:cs typeface="+mn-lt"/>
              </a:rPr>
              <a:t>, where pre-trained models can be reused for quick development without needing to train from scratch.</a:t>
            </a:r>
            <a:endParaRPr lang="en-US" sz="2000" dirty="0"/>
          </a:p>
          <a:p>
            <a:pPr algn="just"/>
            <a:r>
              <a:rPr lang="en-US" sz="2000" dirty="0">
                <a:ea typeface="+mn-lt"/>
                <a:cs typeface="+mn-lt"/>
              </a:rPr>
              <a:t>The modular workflow makes the system </a:t>
            </a:r>
            <a:r>
              <a:rPr lang="en-US" sz="2000" b="1" dirty="0">
                <a:ea typeface="+mn-lt"/>
                <a:cs typeface="+mn-lt"/>
              </a:rPr>
              <a:t>scalable and adaptable</a:t>
            </a:r>
            <a:r>
              <a:rPr lang="en-US" sz="2000" dirty="0">
                <a:ea typeface="+mn-lt"/>
                <a:cs typeface="+mn-lt"/>
              </a:rPr>
              <a:t>—it can be extended to include emotion detection, face recognition, or demographic analysis.</a:t>
            </a:r>
            <a:endParaRPr lang="en-US" sz="2000" dirty="0"/>
          </a:p>
          <a:p>
            <a:pPr algn="just"/>
            <a:r>
              <a:rPr lang="en-US" sz="2000" dirty="0">
                <a:ea typeface="+mn-lt"/>
                <a:cs typeface="+mn-lt"/>
              </a:rPr>
              <a:t>This project highlights the growing trend of </a:t>
            </a:r>
            <a:r>
              <a:rPr lang="en-US" sz="2000" b="1" dirty="0">
                <a:ea typeface="+mn-lt"/>
                <a:cs typeface="+mn-lt"/>
              </a:rPr>
              <a:t>AI-powered automation</a:t>
            </a:r>
            <a:r>
              <a:rPr lang="en-US" sz="2000" dirty="0">
                <a:ea typeface="+mn-lt"/>
                <a:cs typeface="+mn-lt"/>
              </a:rPr>
              <a:t> in visual data processing, emphasizing </a:t>
            </a:r>
            <a:r>
              <a:rPr lang="en-US" sz="2000" b="1" dirty="0">
                <a:ea typeface="+mn-lt"/>
                <a:cs typeface="+mn-lt"/>
              </a:rPr>
              <a:t>real-time inference and user-friendly outputs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81349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D1C51-CD18-26AD-A141-E3210348B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4390" y="2759982"/>
            <a:ext cx="3427791" cy="1337658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Aptos"/>
              </a:rPr>
              <a:t>Thank you 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1162571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Gender and Age Detection Using Deep Learning</vt:lpstr>
      <vt:lpstr>Introduction</vt:lpstr>
      <vt:lpstr>🧩 Project Overview</vt:lpstr>
      <vt:lpstr>Models Used</vt:lpstr>
      <vt:lpstr>System Architecture</vt:lpstr>
      <vt:lpstr> Workflow</vt:lpstr>
      <vt:lpstr>PowerPoint Presentation</vt:lpstr>
      <vt:lpstr>detect.py Code Summary</vt:lpstr>
      <vt:lpstr>Output Screenshots</vt:lpstr>
      <vt:lpstr>Future Scope</vt:lpstr>
      <vt:lpstr>Conclusion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365</cp:revision>
  <dcterms:created xsi:type="dcterms:W3CDTF">2025-04-14T18:29:50Z</dcterms:created>
  <dcterms:modified xsi:type="dcterms:W3CDTF">2025-04-14T20:27:58Z</dcterms:modified>
</cp:coreProperties>
</file>